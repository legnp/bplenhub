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low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logo-br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85800"/>
            <a:ext cx="1737360" cy="7245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3063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CONSULTORIA DE DESENVOLVIMENTO HUMANO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822960" y="347472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Descomplicando o desenvolvimento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humano no trabalho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822960" y="5623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Institucional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822960" y="6291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bplen.com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SOMOS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Somos o seu HRBP que ajuda a descomplicar o desenvolvimento humano no trabalho.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880360"/>
            <a:ext cx="6903720" cy="3017520"/>
          </a:xfrm>
          <a:prstGeom prst="roundRect">
            <a:avLst>
              <a:gd name="adj" fmla="val 3636"/>
            </a:avLst>
          </a:prstGeom>
          <a:solidFill>
            <a:srgbClr val="16161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20040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Somos uma consultoria de negócios com foco em Desenvolvimento Humano, nascida da experiência holística de sua fundadora em grandes multinacionais e no empreendedorismo.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35240" y="2880360"/>
            <a:ext cx="4069080" cy="3017520"/>
          </a:xfrm>
          <a:prstGeom prst="roundRect">
            <a:avLst>
              <a:gd name="adj" fmla="val 3636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0" y="320040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fazemos consultoria genérica. Atuamos onde o técnico encontra o humano — com método, dados e proximidade real.</a:t>
            </a:r>
            <a:endParaRPr lang="en-US" sz="1350" dirty="0"/>
          </a:p>
        </p:txBody>
      </p:sp>
      <p:pic>
        <p:nvPicPr>
          <p:cNvPr id="8" name="Image 0" descr="assets/logo-br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914400" cy="3813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SOMOS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nos guia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16161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331720"/>
            <a:ext cx="566928" cy="566928"/>
          </a:xfrm>
          <a:prstGeom prst="ellipse">
            <a:avLst/>
          </a:prstGeom>
          <a:solidFill>
            <a:srgbClr val="1E1E1E"/>
          </a:solidFill>
          <a:ln w="15875">
            <a:solidFill>
              <a:srgbClr val="FF0080"/>
            </a:solidFill>
            <a:prstDash val="solid"/>
          </a:ln>
        </p:spPr>
      </p:sp>
      <p:pic>
        <p:nvPicPr>
          <p:cNvPr id="6" name="Image 0" descr="assets/icon-miss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4780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Nossa Missão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Ajudar pessoas e negócios a alinhar objetivos através do desenvolvimento humano prático, aplicado à realidade com clareza, método e execução, para gerar resultados sustentáveis.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55080" y="196596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161616"/>
          </a:solidFill>
          <a:ln/>
        </p:spPr>
      </p:sp>
      <p:sp>
        <p:nvSpPr>
          <p:cNvPr id="10" name="Shape 7"/>
          <p:cNvSpPr/>
          <p:nvPr/>
        </p:nvSpPr>
        <p:spPr>
          <a:xfrm>
            <a:off x="6720840" y="2331720"/>
            <a:ext cx="566928" cy="566928"/>
          </a:xfrm>
          <a:prstGeom prst="ellipse">
            <a:avLst/>
          </a:prstGeom>
          <a:solidFill>
            <a:srgbClr val="1E1E1E"/>
          </a:solidFill>
          <a:ln w="15875">
            <a:solidFill>
              <a:srgbClr val="7928CA"/>
            </a:solidFill>
            <a:prstDash val="solid"/>
          </a:ln>
        </p:spPr>
      </p:sp>
      <p:pic>
        <p:nvPicPr>
          <p:cNvPr id="11" name="Image 1" descr="assets/icon-mo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4" y="247802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2084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Nos Move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720840" y="352044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Integramos dados, métodos e desenvolvimento humano para transformar contextos em oportunidades e potencializar a performance sustentável.</a:t>
            </a:r>
            <a:endParaRPr lang="en-US" sz="1450" dirty="0"/>
          </a:p>
        </p:txBody>
      </p:sp>
      <p:pic>
        <p:nvPicPr>
          <p:cNvPr id="14" name="Image 2" descr="assets/logo-branc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"/>
            <a:ext cx="914400" cy="3813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29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frentes, um mesmo método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16161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514600"/>
            <a:ext cx="566928" cy="566928"/>
          </a:xfrm>
          <a:prstGeom prst="ellipse">
            <a:avLst/>
          </a:prstGeom>
          <a:solidFill>
            <a:srgbClr val="1E1E1E"/>
          </a:solidFill>
          <a:ln w="15875">
            <a:solidFill>
              <a:srgbClr val="FF0080"/>
            </a:solidFill>
            <a:prstDash val="solid"/>
          </a:ln>
        </p:spPr>
      </p:sp>
      <p:pic>
        <p:nvPicPr>
          <p:cNvPr id="6" name="Image 0" descr="assets/icon-pesso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66090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46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7033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Carreira Completa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34840" y="214884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161616"/>
          </a:solidFill>
          <a:ln/>
        </p:spPr>
      </p:sp>
      <p:sp>
        <p:nvSpPr>
          <p:cNvPr id="10" name="Shape 7"/>
          <p:cNvSpPr/>
          <p:nvPr/>
        </p:nvSpPr>
        <p:spPr>
          <a:xfrm>
            <a:off x="4800600" y="2514600"/>
            <a:ext cx="566928" cy="566928"/>
          </a:xfrm>
          <a:prstGeom prst="ellipse">
            <a:avLst/>
          </a:prstGeom>
          <a:solidFill>
            <a:srgbClr val="1E1E1E"/>
          </a:solidFill>
          <a:ln w="15875">
            <a:solidFill>
              <a:srgbClr val="C026D3"/>
            </a:solidFill>
            <a:prstDash val="solid"/>
          </a:ln>
        </p:spPr>
      </p:sp>
      <p:pic>
        <p:nvPicPr>
          <p:cNvPr id="11" name="Image 1" descr="assets/icon-empres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266090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3246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00600" y="37033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HRBP como um serviço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66760" y="214884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161616"/>
          </a:solidFill>
          <a:ln/>
        </p:spPr>
      </p:sp>
      <p:sp>
        <p:nvSpPr>
          <p:cNvPr id="15" name="Shape 11"/>
          <p:cNvSpPr/>
          <p:nvPr/>
        </p:nvSpPr>
        <p:spPr>
          <a:xfrm>
            <a:off x="8732520" y="2514600"/>
            <a:ext cx="566928" cy="566928"/>
          </a:xfrm>
          <a:prstGeom prst="ellipse">
            <a:avLst/>
          </a:prstGeom>
          <a:solidFill>
            <a:srgbClr val="1E1E1E"/>
          </a:solidFill>
          <a:ln w="15875">
            <a:solidFill>
              <a:srgbClr val="7928CA"/>
            </a:solidFill>
            <a:prstDash val="solid"/>
          </a:ln>
        </p:spPr>
      </p:sp>
      <p:pic>
        <p:nvPicPr>
          <p:cNvPr id="16" name="Image 2" descr="assets/icon-parceir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4" y="266090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32520" y="3246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Parceiros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732520" y="37033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Projetos e ativações de negócio em conjunto</a:t>
            </a:r>
            <a:endParaRPr lang="en-US" sz="1400" dirty="0"/>
          </a:p>
        </p:txBody>
      </p:sp>
      <p:pic>
        <p:nvPicPr>
          <p:cNvPr id="19" name="Image 3" descr="assets/logo-branc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5760"/>
            <a:ext cx="914400" cy="3813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29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QUEM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low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logo-br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1097280" cy="4576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CENÁRIO ATUAL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914400" y="274320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futuro do trabalho é complexo porque a maioria das dores não é técnica — é humana.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914400" y="484632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 é cuidar do invisível: expectativas, confiança e coerência.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029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CENÁRIO ATUAL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CENÁRIO ATUAL — EM NÚMEROS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sintomas de um mesmo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16161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3055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88920" y="219456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mão de obra qualificada compromete o crescimento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788920" y="33649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BRASIL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80760" y="196596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161616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213055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366760" y="219456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Aumento de licenças no INSS por saúde mental em 10 anos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366760" y="33649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16161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18795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2788920" y="425196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Acreditam no autodesenvolvimento — menos de 1% conta com o RH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88920" y="54223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DHO360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402336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161616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418795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366760" y="425196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negócios reconhecem: as barreiras são pessoas e comunicação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66760" y="54223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DHO360</a:t>
            </a:r>
            <a:endParaRPr lang="en-US" sz="900" dirty="0"/>
          </a:p>
        </p:txBody>
      </p:sp>
      <p:pic>
        <p:nvPicPr>
          <p:cNvPr id="20" name="Image 0" descr="assets/logo-br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914400" cy="38135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 ATUAL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low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logo-br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1097280" cy="4576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AJUDAMOS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914400" y="274320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Atuamos em três frentes que vão do técnico ao humano, dos dados às pessoas.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914400" y="484632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foco no desenvolvimento real — não em fórmulas prontas.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029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AJUDAMOS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AJUDAMOS — PILAR 1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955280" y="118872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822960" cy="822960"/>
          </a:xfrm>
          <a:prstGeom prst="ellipse">
            <a:avLst/>
          </a:prstGeom>
          <a:solidFill>
            <a:srgbClr val="1E1E1E"/>
          </a:solidFill>
          <a:ln w="15875">
            <a:solidFill>
              <a:srgbClr val="FF0080"/>
            </a:solidFill>
            <a:prstDash val="solid"/>
          </a:ln>
        </p:spPr>
      </p:sp>
      <p:pic>
        <p:nvPicPr>
          <p:cNvPr id="5" name="Image 0" descr="assets/icon-pesso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3682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PESSOAS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de Carreira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02920" y="452628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Consultoria e gestão de carreira com métodos práticos, através de trilhas de desenvolvimento e posicionamento para profissionais que querem elevar sua performance e relevância.</a:t>
            </a:r>
            <a:endParaRPr lang="en-US" sz="1550" dirty="0"/>
          </a:p>
        </p:txBody>
      </p:sp>
      <p:pic>
        <p:nvPicPr>
          <p:cNvPr id="9" name="Image 1" descr="assets/logo-br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914400" cy="3813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AJUDAMOS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AJUDAMOS — PILAR 2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955280" y="118872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822960" cy="822960"/>
          </a:xfrm>
          <a:prstGeom prst="ellipse">
            <a:avLst/>
          </a:prstGeom>
          <a:solidFill>
            <a:srgbClr val="1E1E1E"/>
          </a:solidFill>
          <a:ln w="15875">
            <a:solidFill>
              <a:srgbClr val="C026D3"/>
            </a:solidFill>
            <a:prstDash val="solid"/>
          </a:ln>
        </p:spPr>
      </p:sp>
      <p:pic>
        <p:nvPicPr>
          <p:cNvPr id="5" name="Image 0" descr="assets/icon-empres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3682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02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EMPRESAS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Estratégia, Analytics e Cultura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02920" y="452628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Consultoria e serviços de HRBP nos pilares de Employee Experience, People Analytics e Clima e Cultura para impulsionar a performance organizacional.</a:t>
            </a:r>
            <a:endParaRPr lang="en-US" sz="1550" dirty="0"/>
          </a:p>
        </p:txBody>
      </p:sp>
      <p:pic>
        <p:nvPicPr>
          <p:cNvPr id="9" name="Image 1" descr="assets/logo-br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914400" cy="3813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AJUDAMOS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AJUDAMOS — PILAR 3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955280" y="118872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822960" cy="822960"/>
          </a:xfrm>
          <a:prstGeom prst="ellipse">
            <a:avLst/>
          </a:prstGeom>
          <a:solidFill>
            <a:srgbClr val="1E1E1E"/>
          </a:solidFill>
          <a:ln w="15875">
            <a:solidFill>
              <a:srgbClr val="7928CA"/>
            </a:solidFill>
            <a:prstDash val="solid"/>
          </a:ln>
        </p:spPr>
      </p:sp>
      <p:pic>
        <p:nvPicPr>
          <p:cNvPr id="5" name="Image 0" descr="assets/icon-parceir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3682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792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PARCEIROS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Parcerias de Negócio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02920" y="452628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Parcerias estratégicas através de projetos e ativações em conjunto para ampliar escala e impulsionar o empreendedorismo.</a:t>
            </a:r>
            <a:endParaRPr lang="en-US" sz="1550" dirty="0"/>
          </a:p>
        </p:txBody>
      </p:sp>
      <p:pic>
        <p:nvPicPr>
          <p:cNvPr id="9" name="Image 1" descr="assets/logo-br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914400" cy="3813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AJUDAMOS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low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logo-br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1097280" cy="4576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 POSICIONAMENTO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914400" y="274320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pilares que transformam a consultoria tradicional em parceria estratégica.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5029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 POSICIONAMENTO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FORÇA DO NOSSO POSICIONAMENTO — 1 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Forças 1 e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16161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331720"/>
            <a:ext cx="566928" cy="566928"/>
          </a:xfrm>
          <a:prstGeom prst="ellipse">
            <a:avLst/>
          </a:prstGeom>
          <a:solidFill>
            <a:srgbClr val="1E1E1E"/>
          </a:solidFill>
          <a:ln w="15875">
            <a:solidFill>
              <a:srgbClr val="FF0080"/>
            </a:solidFill>
            <a:prstDash val="solid"/>
          </a:ln>
        </p:spPr>
      </p:sp>
      <p:pic>
        <p:nvPicPr>
          <p:cNvPr id="6" name="Image 0" descr="assets/icon-tecnico_huma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4780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632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técnico ao humano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3657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harmonia entre números e empatia.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Cruzamento inteligente de dados robustos com sensibilidade humana para decisões que fazem sentido para o negócio e para a vida.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26480" y="196596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161616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0" y="2331720"/>
            <a:ext cx="566928" cy="566928"/>
          </a:xfrm>
          <a:prstGeom prst="ellipse">
            <a:avLst/>
          </a:prstGeom>
          <a:solidFill>
            <a:srgbClr val="1E1E1E"/>
          </a:solidFill>
          <a:ln w="15875">
            <a:solidFill>
              <a:srgbClr val="C026D3"/>
            </a:solidFill>
            <a:prstDash val="solid"/>
          </a:ln>
        </p:spPr>
      </p:sp>
      <p:pic>
        <p:nvPicPr>
          <p:cNvPr id="12" name="Image 1" descr="assets/icon-dev_r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47802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92240" y="30632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real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492240" y="3657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02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cada interação, uma evolução.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492240" y="411480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acreditamos em treinamentos isolados. O desenvolvimento acontece no dia a dia, em cada reunião, feedback e decisão estratégica.</a:t>
            </a:r>
            <a:endParaRPr lang="en-US" sz="1250" dirty="0"/>
          </a:p>
        </p:txBody>
      </p:sp>
      <p:pic>
        <p:nvPicPr>
          <p:cNvPr id="16" name="Image 2" descr="assets/logo-branc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"/>
            <a:ext cx="914400" cy="3813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29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POSICIONAMENTO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FORÇA DO NOSSO POSICIONAMENTO — 2 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Forças 3 e 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16161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331720"/>
            <a:ext cx="566928" cy="566928"/>
          </a:xfrm>
          <a:prstGeom prst="ellipse">
            <a:avLst/>
          </a:prstGeom>
          <a:solidFill>
            <a:srgbClr val="1E1E1E"/>
          </a:solidFill>
          <a:ln w="15875">
            <a:solidFill>
              <a:srgbClr val="7928CA"/>
            </a:solidFill>
            <a:prstDash val="solid"/>
          </a:ln>
        </p:spPr>
      </p:sp>
      <p:pic>
        <p:nvPicPr>
          <p:cNvPr id="6" name="Image 0" descr="assets/icon-foco_r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47802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632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em demanda real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3657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92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abstrações ou fórmulas prontas.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Atuamos diretamente na dor que o cenário apresenta. Soluções práticas, aplicáveis agora, focadas em resolver demandas complexas.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26480" y="196596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161616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0" y="2331720"/>
            <a:ext cx="566928" cy="566928"/>
          </a:xfrm>
          <a:prstGeom prst="ellipse">
            <a:avLst/>
          </a:prstGeom>
          <a:solidFill>
            <a:srgbClr val="1E1E1E"/>
          </a:solidFill>
          <a:ln w="15875">
            <a:solidFill>
              <a:srgbClr val="FF0080"/>
            </a:solidFill>
            <a:prstDash val="solid"/>
          </a:ln>
        </p:spPr>
      </p:sp>
      <p:pic>
        <p:nvPicPr>
          <p:cNvPr id="12" name="Image 1" descr="assets/icon-adaptac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47802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92240" y="30632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Adaptação contínua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492240" y="3657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Resiliência perante o cenário mutável.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492240" y="411480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mercado muda rápido. Nossa metodologia se adapta continuamente ao contexto para garantir que a estratégia de pessoas nunca fique obsoleta.</a:t>
            </a:r>
            <a:endParaRPr lang="en-US" sz="1250" dirty="0"/>
          </a:p>
        </p:txBody>
      </p:sp>
      <p:pic>
        <p:nvPicPr>
          <p:cNvPr id="16" name="Image 2" descr="assets/logo-branc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"/>
            <a:ext cx="914400" cy="3813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29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POSICIONAMENTO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NOSSOS VALORES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através de atitudes coerentes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289304" y="2148840"/>
            <a:ext cx="566928" cy="566928"/>
          </a:xfrm>
          <a:prstGeom prst="ellipse">
            <a:avLst/>
          </a:prstGeom>
          <a:solidFill>
            <a:srgbClr val="1E1E1E"/>
          </a:solidFill>
          <a:ln w="15875">
            <a:solidFill>
              <a:srgbClr val="FF0080"/>
            </a:solidFill>
            <a:prstDash val="solid"/>
          </a:ln>
        </p:spPr>
      </p:sp>
      <p:pic>
        <p:nvPicPr>
          <p:cNvPr id="5" name="Image 0" descr="assets/icon-acord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229514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898648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Acordos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02920" y="3520440"/>
            <a:ext cx="21396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objetivo precisa fazer sentido para todos. Combinar antes, ajustar depois.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557016" y="2148840"/>
            <a:ext cx="566928" cy="566928"/>
          </a:xfrm>
          <a:prstGeom prst="ellipse">
            <a:avLst/>
          </a:prstGeom>
          <a:solidFill>
            <a:srgbClr val="1E1E1E"/>
          </a:solidFill>
          <a:ln w="15875">
            <a:solidFill>
              <a:srgbClr val="FF0080"/>
            </a:solidFill>
            <a:prstDash val="solid"/>
          </a:ln>
        </p:spPr>
      </p:sp>
      <p:pic>
        <p:nvPicPr>
          <p:cNvPr id="9" name="Image 1" descr="assets/icon-evidenc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29514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70632" y="2898648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 como base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770632" y="3520440"/>
            <a:ext cx="21396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Priorizar dados e comportamentos reais. Decidir com método, não apenas opinião.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824728" y="2148840"/>
            <a:ext cx="566928" cy="566928"/>
          </a:xfrm>
          <a:prstGeom prst="ellipse">
            <a:avLst/>
          </a:prstGeom>
          <a:solidFill>
            <a:srgbClr val="1E1E1E"/>
          </a:solidFill>
          <a:ln w="15875">
            <a:solidFill>
              <a:srgbClr val="FF0080"/>
            </a:solidFill>
            <a:prstDash val="solid"/>
          </a:ln>
        </p:spPr>
      </p:sp>
      <p:pic>
        <p:nvPicPr>
          <p:cNvPr id="13" name="Image 2" descr="assets/icon-transparenci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229514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38344" y="2898648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038344" y="3520440"/>
            <a:ext cx="21396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honesto e comunicação direta. Falar o que precisa ser dito com respeito.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092440" y="2148840"/>
            <a:ext cx="566928" cy="566928"/>
          </a:xfrm>
          <a:prstGeom prst="ellipse">
            <a:avLst/>
          </a:prstGeom>
          <a:solidFill>
            <a:srgbClr val="1E1E1E"/>
          </a:solidFill>
          <a:ln w="15875">
            <a:solidFill>
              <a:srgbClr val="FF0080"/>
            </a:solidFill>
            <a:prstDash val="solid"/>
          </a:ln>
        </p:spPr>
      </p:sp>
      <p:pic>
        <p:nvPicPr>
          <p:cNvPr id="17" name="Image 3" descr="assets/icon-educaca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4" y="229514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06056" y="2898648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7306056" y="3520440"/>
            <a:ext cx="21396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contínuo para autonomia e inovação. Aprender sempre, transmitir aprendizado.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10360152" y="2148840"/>
            <a:ext cx="566928" cy="566928"/>
          </a:xfrm>
          <a:prstGeom prst="ellipse">
            <a:avLst/>
          </a:prstGeom>
          <a:solidFill>
            <a:srgbClr val="1E1E1E"/>
          </a:solidFill>
          <a:ln w="15875">
            <a:solidFill>
              <a:srgbClr val="FF0080"/>
            </a:solidFill>
            <a:prstDash val="solid"/>
          </a:ln>
        </p:spPr>
      </p:sp>
      <p:pic>
        <p:nvPicPr>
          <p:cNvPr id="21" name="Image 4" descr="assets/icon-cocriaca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6456" y="2295144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573768" y="2898648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Co-criação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9573768" y="3520440"/>
            <a:ext cx="21396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Planos feitos com e não para o cliente. Construir junto, nunca sozinho.</a:t>
            </a:r>
            <a:endParaRPr lang="en-US" sz="1050" dirty="0"/>
          </a:p>
        </p:txBody>
      </p:sp>
      <p:pic>
        <p:nvPicPr>
          <p:cNvPr id="24" name="Image 5" descr="assets/logo-branc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65760"/>
            <a:ext cx="914400" cy="38135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029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</a:t>
            </a:r>
            <a:endParaRPr lang="en-US" sz="800" dirty="0"/>
          </a:p>
        </p:txBody>
      </p:sp>
      <p:sp>
        <p:nvSpPr>
          <p:cNvPr id="26" name="Text 18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CONDUZ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Lisandra Lencina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Fundadora da BPlen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Vive o empreendedorismo desde a juventude e há 10 anos ajuda pessoas e negócios a alinharem seus interesses e resultados.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3337560"/>
            <a:ext cx="6766560" cy="2651760"/>
          </a:xfrm>
          <a:prstGeom prst="roundRect">
            <a:avLst>
              <a:gd name="adj" fmla="val 4138"/>
            </a:avLst>
          </a:prstGeom>
          <a:solidFill>
            <a:srgbClr val="16161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5661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Administração de Empresas · MBA em Gestão de Negócios · Especialização em RH e Coaching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RESULTADOS (2019—2024)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Contribuição para o selo GPTW com eNPS acima de 80% · estruturação de frentes estratégicas de RH · +50% de ganho em agilidade de processos · NPS acima de 4.8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35240" y="1600200"/>
            <a:ext cx="4069080" cy="4389120"/>
          </a:xfrm>
          <a:prstGeom prst="roundRect">
            <a:avLst>
              <a:gd name="adj" fmla="val 2697"/>
            </a:avLst>
          </a:prstGeom>
          <a:solidFill>
            <a:srgbClr val="1E1E1E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192024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 · Samsung · Smart Beauty · Governo-SP · Itaú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55280" y="292608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Passagem por multinacionais e grandes marcas, em projetos educacionais, inteligência de mercado e Desenvolvimento Humano Organizacional (DHO), antes de fundar a BPlen.</a:t>
            </a:r>
            <a:endParaRPr lang="en-US" sz="1250" dirty="0"/>
          </a:p>
        </p:txBody>
      </p:sp>
      <p:pic>
        <p:nvPicPr>
          <p:cNvPr id="14" name="Image 0" descr="assets/logo-br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914400" cy="3813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29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CONDUZ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TRAJETÓRIA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onde viemos até aqui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3456432"/>
            <a:ext cx="10820095" cy="0"/>
          </a:xfrm>
          <a:prstGeom prst="line">
            <a:avLst/>
          </a:prstGeom>
          <a:noFill/>
          <a:ln w="254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3374136"/>
            <a:ext cx="164592" cy="164592"/>
          </a:xfrm>
          <a:prstGeom prst="ellipse">
            <a:avLst/>
          </a:prstGeom>
          <a:solidFill>
            <a:srgbClr val="5A5A6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1605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Empreendedorismo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(familiar)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80360" y="3374136"/>
            <a:ext cx="164592" cy="164592"/>
          </a:xfrm>
          <a:prstGeom prst="ellipse">
            <a:avLst/>
          </a:prstGeom>
          <a:solidFill>
            <a:srgbClr val="5A5A60"/>
          </a:solidFill>
          <a:ln/>
        </p:spPr>
      </p:sp>
      <p:sp>
        <p:nvSpPr>
          <p:cNvPr id="9" name="Text 7"/>
          <p:cNvSpPr/>
          <p:nvPr/>
        </p:nvSpPr>
        <p:spPr>
          <a:xfrm>
            <a:off x="2779776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79776" y="41605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Projetos educacionais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(Gov-SP, Hertft, Itaú)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57216" y="3374136"/>
            <a:ext cx="164592" cy="164592"/>
          </a:xfrm>
          <a:prstGeom prst="ellipse">
            <a:avLst/>
          </a:prstGeom>
          <a:solidFill>
            <a:srgbClr val="5A5A60"/>
          </a:solidFill>
          <a:ln/>
        </p:spPr>
      </p:sp>
      <p:sp>
        <p:nvSpPr>
          <p:cNvPr id="12" name="Text 10"/>
          <p:cNvSpPr/>
          <p:nvPr/>
        </p:nvSpPr>
        <p:spPr>
          <a:xfrm>
            <a:off x="5056632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56632" y="41605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de mercado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(IDC, H. Strattner)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34072" y="3374136"/>
            <a:ext cx="164592" cy="164592"/>
          </a:xfrm>
          <a:prstGeom prst="ellipse">
            <a:avLst/>
          </a:prstGeom>
          <a:solidFill>
            <a:srgbClr val="5A5A60"/>
          </a:solidFill>
          <a:ln/>
        </p:spPr>
      </p:sp>
      <p:sp>
        <p:nvSpPr>
          <p:cNvPr id="15" name="Text 13"/>
          <p:cNvSpPr/>
          <p:nvPr/>
        </p:nvSpPr>
        <p:spPr>
          <a:xfrm>
            <a:off x="7333488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33488" y="41605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 e DHO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(Acer, Samsung, Smart Beauty)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710928" y="3374136"/>
            <a:ext cx="164592" cy="164592"/>
          </a:xfrm>
          <a:prstGeom prst="ellipse">
            <a:avLst/>
          </a:prstGeom>
          <a:solidFill>
            <a:srgbClr val="FF0080"/>
          </a:solidFill>
          <a:ln/>
        </p:spPr>
      </p:sp>
      <p:sp>
        <p:nvSpPr>
          <p:cNvPr id="18" name="Text 16"/>
          <p:cNvSpPr/>
          <p:nvPr/>
        </p:nvSpPr>
        <p:spPr>
          <a:xfrm>
            <a:off x="9610344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10344" y="41605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BPlen</a:t>
            </a:r>
            <a:endParaRPr lang="en-US" sz="11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Consultoria</a:t>
            </a:r>
            <a:endParaRPr lang="en-US" sz="1150" dirty="0"/>
          </a:p>
        </p:txBody>
      </p:sp>
      <p:pic>
        <p:nvPicPr>
          <p:cNvPr id="20" name="Image 0" descr="assets/logo-br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914400" cy="38135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TRAJETÓRIA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RECORD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essa trajetória já entregou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2860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616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6060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experiência ajudando pessoas e negócios a alinhar interesses e resultados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28416" y="22860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61616"/>
          </a:solidFill>
          <a:ln/>
        </p:spPr>
      </p:sp>
      <p:sp>
        <p:nvSpPr>
          <p:cNvPr id="8" name="Text 6"/>
          <p:cNvSpPr/>
          <p:nvPr/>
        </p:nvSpPr>
        <p:spPr>
          <a:xfrm>
            <a:off x="3557016" y="26060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57016" y="36576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eNPS em contribuição para o selo GPTW em projetos conduzidos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53912" y="22860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61616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26060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382512" y="36576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ganho em agilidade a partir de melhoria de processos de RH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79408" y="22860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61616"/>
          </a:solidFill>
          <a:ln/>
        </p:spPr>
      </p:sp>
      <p:sp>
        <p:nvSpPr>
          <p:cNvPr id="14" name="Text 12"/>
          <p:cNvSpPr/>
          <p:nvPr/>
        </p:nvSpPr>
        <p:spPr>
          <a:xfrm>
            <a:off x="9208008" y="26060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4.8+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208008" y="36576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NPS médio nos projetos e frentes estratégicas estruturadas</a:t>
            </a:r>
            <a:endParaRPr lang="en-US" sz="1200" dirty="0"/>
          </a:p>
        </p:txBody>
      </p:sp>
      <p:pic>
        <p:nvPicPr>
          <p:cNvPr id="16" name="Image 0" descr="assets/logo-br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914400" cy="3813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029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RECORD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low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logo-br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1097280" cy="4576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02920" y="25603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conversar sobre o seu contexto?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502920" y="3520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conversa inicial, sem custo, para entender seu cenário e avaliar como o desenvolvimento humano pode se aplicar a ele.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02920" y="4526280"/>
            <a:ext cx="457200" cy="457200"/>
          </a:xfrm>
          <a:prstGeom prst="ellipse">
            <a:avLst/>
          </a:prstGeom>
          <a:solidFill>
            <a:srgbClr val="1E1E1E"/>
          </a:solidFill>
          <a:ln w="15875">
            <a:solidFill>
              <a:srgbClr val="FF0080"/>
            </a:solidFill>
            <a:prstDash val="solid"/>
          </a:ln>
        </p:spPr>
      </p:sp>
      <p:pic>
        <p:nvPicPr>
          <p:cNvPr id="8" name="Image 2" descr="assets/icon-ema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645152"/>
            <a:ext cx="219456" cy="2194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45445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lisandra.lencina@bplen.com</a:t>
            </a:r>
            <a:endParaRPr lang="en-US" sz="1350" dirty="0"/>
          </a:p>
        </p:txBody>
      </p:sp>
      <p:sp>
        <p:nvSpPr>
          <p:cNvPr id="10" name="Shape 5"/>
          <p:cNvSpPr/>
          <p:nvPr/>
        </p:nvSpPr>
        <p:spPr>
          <a:xfrm>
            <a:off x="5897880" y="4526280"/>
            <a:ext cx="457200" cy="457200"/>
          </a:xfrm>
          <a:prstGeom prst="ellipse">
            <a:avLst/>
          </a:prstGeom>
          <a:solidFill>
            <a:srgbClr val="1E1E1E"/>
          </a:solidFill>
          <a:ln w="15875">
            <a:solidFill>
              <a:srgbClr val="FF0080"/>
            </a:solidFill>
            <a:prstDash val="solid"/>
          </a:ln>
        </p:spPr>
      </p:sp>
      <p:pic>
        <p:nvPicPr>
          <p:cNvPr id="11" name="Image 3" descr="assets/icon-whatsap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4645152"/>
            <a:ext cx="219456" cy="2194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92240" y="45445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+55 11 94515-2088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502920" y="5285232"/>
            <a:ext cx="457200" cy="457200"/>
          </a:xfrm>
          <a:prstGeom prst="ellipse">
            <a:avLst/>
          </a:prstGeom>
          <a:solidFill>
            <a:srgbClr val="1E1E1E"/>
          </a:solidFill>
          <a:ln w="15875">
            <a:solidFill>
              <a:srgbClr val="FF0080"/>
            </a:solidFill>
            <a:prstDash val="solid"/>
          </a:ln>
        </p:spPr>
      </p:sp>
      <p:pic>
        <p:nvPicPr>
          <p:cNvPr id="14" name="Image 4" descr="assets/icon-s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5404104"/>
            <a:ext cx="219456" cy="2194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97280" y="5303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bplen.com</a:t>
            </a:r>
            <a:endParaRPr lang="en-US" sz="1350" dirty="0"/>
          </a:p>
        </p:txBody>
      </p:sp>
      <p:sp>
        <p:nvSpPr>
          <p:cNvPr id="16" name="Shape 9"/>
          <p:cNvSpPr/>
          <p:nvPr/>
        </p:nvSpPr>
        <p:spPr>
          <a:xfrm>
            <a:off x="5897880" y="5285232"/>
            <a:ext cx="457200" cy="457200"/>
          </a:xfrm>
          <a:prstGeom prst="ellipse">
            <a:avLst/>
          </a:prstGeom>
          <a:solidFill>
            <a:srgbClr val="1E1E1E"/>
          </a:solidFill>
          <a:ln w="15875">
            <a:solidFill>
              <a:srgbClr val="FF0080"/>
            </a:solidFill>
            <a:prstDash val="solid"/>
          </a:ln>
        </p:spPr>
      </p:sp>
      <p:pic>
        <p:nvPicPr>
          <p:cNvPr id="17" name="Image 5" descr="assets/icon-linked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6752" y="5404104"/>
            <a:ext cx="219456" cy="21945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492240" y="5303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linkedin.com/in/lisandralencina</a:t>
            </a:r>
            <a:endParaRPr lang="en-US" sz="1350" dirty="0"/>
          </a:p>
        </p:txBody>
      </p:sp>
      <p:sp>
        <p:nvSpPr>
          <p:cNvPr id="19" name="Text 11"/>
          <p:cNvSpPr/>
          <p:nvPr/>
        </p:nvSpPr>
        <p:spPr>
          <a:xfrm>
            <a:off x="5029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800" dirty="0"/>
          </a:p>
        </p:txBody>
      </p:sp>
      <p:sp>
        <p:nvSpPr>
          <p:cNvPr id="20" name="Text 12"/>
          <p:cNvSpPr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glow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logo-br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743200"/>
            <a:ext cx="2651760" cy="110591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41605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Obrigada pelo seu tempo.</a:t>
            </a:r>
            <a:endParaRPr lang="en-US" sz="2000" dirty="0"/>
          </a:p>
        </p:txBody>
      </p:sp>
      <p:sp>
        <p:nvSpPr>
          <p:cNvPr id="5" name="Text 1"/>
          <p:cNvSpPr/>
          <p:nvPr/>
        </p:nvSpPr>
        <p:spPr>
          <a:xfrm>
            <a:off x="0" y="60807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5A5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bplen.com  ·  lisandra.lencina@bplen.com  ·  +55 11 94515-2088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BPlen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Institucional BPlen</dc:title>
  <dc:subject>PptxGenJS Presentation</dc:subject>
  <dc:creator>BPlen</dc:creator>
  <cp:lastModifiedBy>BPlen</cp:lastModifiedBy>
  <cp:revision>1</cp:revision>
  <dcterms:created xsi:type="dcterms:W3CDTF">2026-08-05T16:21:22Z</dcterms:created>
  <dcterms:modified xsi:type="dcterms:W3CDTF">2026-08-05T16:21:22Z</dcterms:modified>
</cp:coreProperties>
</file>